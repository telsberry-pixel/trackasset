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94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693A99-0CAB-4A79-AB4B-C549FB637FE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67AA9-613C-4E7E-B31F-9100F659F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146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67AA9-613C-4E7E-B31F-9100F659F7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644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demonstration of the functionalities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67AA9-613C-4E7E-B31F-9100F659F7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04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Show demonstration of the functionalities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67AA9-613C-4E7E-B31F-9100F659F7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42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24682-6BC5-2D82-2DD6-A5FC2736A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085DB-1F19-723D-9A55-5891B8439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04561-6415-C98F-01AC-52822DB79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0DBB-AA9A-46D4-B659-D07FD4FEF37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FFADD-079A-1742-F052-E3A9D3B32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28325-74C8-0740-9CD6-DE0785B5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EED1-E424-43C4-A3CF-2E403AD06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997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0C7E1-D9E0-3722-7D8C-79D39BC0D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9BA30-93D6-8DB3-3735-58E1D8D57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16221-C842-E7DA-6C0F-D787874F0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0DBB-AA9A-46D4-B659-D07FD4FEF37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8E389-095D-15A8-F6F2-D3D0C77BC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BA805-E157-1271-B348-58B63F6B8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EED1-E424-43C4-A3CF-2E403AD06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08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A3932-8378-4EA0-C1CC-B1DBEDEC2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A75B6-BD4C-E834-BCD2-B92BA7AF1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045FB-E135-322C-C4C3-B2E4F3226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0DBB-AA9A-46D4-B659-D07FD4FEF37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E9269-8614-BEDD-718C-AC830EB83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D78E4-2942-DE3C-DA6D-B3611008E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EED1-E424-43C4-A3CF-2E403AD06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36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0574-08E6-D75A-0F2C-65FFD1AC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28013-CC5C-5883-CB84-B2D8EC3751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C9FDB-D73B-3E13-DEFB-42B346A6E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23501-42DF-AD71-3AB7-9BF637639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0DBB-AA9A-46D4-B659-D07FD4FEF37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04251F-1571-BB76-155B-8DFD8A870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980A6-6B93-46B4-3176-E611CA356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EED1-E424-43C4-A3CF-2E403AD06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2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F0A9A-82ED-4AA7-7F34-F0A05AA11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19FB5-48BF-3B13-62F9-6712723FB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694CB-6997-D1F8-C660-1B1A7A99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D2B73F-B4A5-44C1-BC51-710C7BEAB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B5D221-8050-8980-EDA2-CF74C519B3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966596-4EF6-1722-4234-AA7478137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0DBB-AA9A-46D4-B659-D07FD4FEF37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450B5C-84DD-8F82-7055-5E899C615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E85E0-104D-613E-CA88-82913BE3B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EED1-E424-43C4-A3CF-2E403AD06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96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2416-6F96-9F0E-0E49-0A15F3C7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8463B-4469-83C8-4B8D-FDC10E1F6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0DBB-AA9A-46D4-B659-D07FD4FEF37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4D8B72-122A-CA02-0932-AA65A3874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4B7835-A8DF-CE9A-9A5D-AEE9B0ADC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EED1-E424-43C4-A3CF-2E403AD06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84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4099FE-B659-1063-9E3F-6B51AD058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0DBB-AA9A-46D4-B659-D07FD4FEF37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E0D437-A1EC-8B32-7650-646B65C5B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15968-EA6C-65E4-7C8C-70F26D55D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EED1-E424-43C4-A3CF-2E403AD06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5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91E18-6062-8ACB-4493-2523957C7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24F8E-7BCF-8281-9534-90FB9FAAA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504B7-D573-1075-9762-A81BE9C30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C7FA4-171B-1799-7F6C-F503F4BCF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0DBB-AA9A-46D4-B659-D07FD4FEF37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90324-1E10-9736-1FE1-3CB60512D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0EA73-5F46-1D5C-4B40-1653F7B17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EED1-E424-43C4-A3CF-2E403AD06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87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FF691-375C-EDEB-CA35-8AC5B508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49EA5E-72BD-E13F-C978-ECE20B7E16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E0353C-294B-4C3A-D250-8479A0F40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8575A-0AF8-8856-E909-D3483473F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0DBB-AA9A-46D4-B659-D07FD4FEF37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39B6D-8123-66B5-2690-46D5DBFCE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DBB9B-13C8-AC94-DAB7-C3F74199D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EED1-E424-43C4-A3CF-2E403AD06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18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1313B-EDF0-E25A-579B-33A16E1E3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7CEFA-C736-6DD3-E94E-F39AC3AAE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C7469-834D-3DBB-05BA-2C8378760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0DBB-AA9A-46D4-B659-D07FD4FEF37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143FD-F0CA-5A5B-546F-2608AB9A8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CFC91-3C28-FF31-D0A9-BF54C72A3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EED1-E424-43C4-A3CF-2E403AD06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178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4D4682-8A2B-B078-4BFF-BFD900A697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731C0B-380B-1B31-CD91-56C2C0407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C796F-B7D4-A2C1-7A15-1D8807170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0DBB-AA9A-46D4-B659-D07FD4FEF37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19B52-9AD4-BD3F-EE56-39A9668B8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C2619-60A7-6EC4-0A73-C731174E4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EED1-E424-43C4-A3CF-2E403AD06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408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16D4E1-8022-EB72-150E-8CF1F3219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89FC0-6BFC-36DF-7FD6-A848A032E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6FE03-311D-1FC2-DA65-63C13AD6A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190DBB-AA9A-46D4-B659-D07FD4FEF37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01E76-FD8E-9528-7F4E-D088A187B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C499C-E0EE-439E-8AFC-B3AE1408F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0EED1-E424-43C4-A3CF-2E403AD06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380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4E8C43E-C9EE-1F95-E388-EDBAE85A6DEC}"/>
              </a:ext>
            </a:extLst>
          </p:cNvPr>
          <p:cNvSpPr txBox="1"/>
          <p:nvPr/>
        </p:nvSpPr>
        <p:spPr>
          <a:xfrm>
            <a:off x="4618574" y="3328736"/>
            <a:ext cx="37860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Learning Session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EA7FAE-9EBD-7B96-3B74-3BB9C53AD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574" y="2273300"/>
            <a:ext cx="30353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881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EEA0B0-DA8B-D628-CCD0-81BCA84A90A2}"/>
              </a:ext>
            </a:extLst>
          </p:cNvPr>
          <p:cNvSpPr txBox="1"/>
          <p:nvPr/>
        </p:nvSpPr>
        <p:spPr>
          <a:xfrm>
            <a:off x="264695" y="705851"/>
            <a:ext cx="11662610" cy="408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Core Function: 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Inspection, maintenance and asset management of linear and stationary assets.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it is: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solution to provide structured inspections, work orders, capital planning with mobile capability.   The ability to process non-destructive testing surveys, i.e. track geometry, ultrasonic rail testing, rail profile measurement, etc.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is not: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trackAsset is not just an inspection and maintenance tracking tool, it provides cradle to grave asset management for tracks, switches, signals, crossings, bridges, etc. </a:t>
            </a:r>
          </a:p>
        </p:txBody>
      </p:sp>
    </p:spTree>
    <p:extLst>
      <p:ext uri="{BB962C8B-B14F-4D97-AF65-F5344CB8AC3E}">
        <p14:creationId xmlns:p14="http://schemas.microsoft.com/office/powerpoint/2010/main" val="4136314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9B4DDB-30D7-E2A3-28BE-04D4EDE98863}"/>
              </a:ext>
            </a:extLst>
          </p:cNvPr>
          <p:cNvSpPr txBox="1"/>
          <p:nvPr/>
        </p:nvSpPr>
        <p:spPr>
          <a:xfrm>
            <a:off x="561473" y="609600"/>
            <a:ext cx="46040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Basic Application Functions: </a:t>
            </a:r>
          </a:p>
          <a:p>
            <a:endParaRPr lang="en-US" sz="2400" b="1" dirty="0"/>
          </a:p>
          <a:p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E779A-33BF-4A76-6FE3-7F1159C4E604}"/>
              </a:ext>
            </a:extLst>
          </p:cNvPr>
          <p:cNvSpPr txBox="1"/>
          <p:nvPr/>
        </p:nvSpPr>
        <p:spPr>
          <a:xfrm>
            <a:off x="1507959" y="1354753"/>
            <a:ext cx="8069179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Dashboard instantly displaying inspection and work order schedules and processes in real-time.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Easy to use one click selection of inspections and/or work orders.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Color-</a:t>
            </a:r>
            <a:r>
              <a:rPr lang="en-US" sz="2000" dirty="0" err="1"/>
              <a:t>codings</a:t>
            </a:r>
            <a:r>
              <a:rPr lang="en-US" sz="2000" dirty="0"/>
              <a:t> of inspection and work order statuses, (red = past due, yellow = current compliance window and green = upcoming inspections/work orders.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Intuitive asset record capturing state of good repair and National Transportation Database reporting.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Ability to configure inspections and work orders by location, group, asset type, inspector,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GPS and map functionality showing inspections and defects.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Ability to quickly create reports and subscribe users to receive the reports via 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Inspections – FRA 213 pre-loaded for track inspections and satisfies all requirements for 234 and 236 (signals and crossings) as well as 217 for bridges.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74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1F6A67-F285-F15F-0C80-47ADA0858AF0}"/>
              </a:ext>
            </a:extLst>
          </p:cNvPr>
          <p:cNvSpPr txBox="1"/>
          <p:nvPr/>
        </p:nvSpPr>
        <p:spPr>
          <a:xfrm>
            <a:off x="658761" y="642365"/>
            <a:ext cx="46040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More Advanced Functions: </a:t>
            </a:r>
          </a:p>
          <a:p>
            <a:endParaRPr lang="en-US" sz="2400" b="1" dirty="0"/>
          </a:p>
          <a:p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320F91-4417-5C7B-A97A-404670755C8B}"/>
              </a:ext>
            </a:extLst>
          </p:cNvPr>
          <p:cNvSpPr txBox="1"/>
          <p:nvPr/>
        </p:nvSpPr>
        <p:spPr>
          <a:xfrm>
            <a:off x="1475874" y="1751617"/>
            <a:ext cx="8069179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Non-destructive linear testing functionality (separate module). Ability to display track geometry, ultrasonic rail testing, rail profile data, etc. on a map and schematic.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Intuitive reporting functionality covering corporate, location, asset and individual reporting.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Service Requests (Separate Module) – Provides for form-based service requests that can be converted easily to an inspection or work order.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Preventive Maintenance (Separate Module)– ability to create standard PM functions and procedures, schedule the PM, track and report statuses.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Configuration Management – Ability to configure asset properties and change management based upon the asset requirement.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03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79E87F-43A7-0D1B-C8B1-0F8D3220C531}"/>
              </a:ext>
            </a:extLst>
          </p:cNvPr>
          <p:cNvSpPr txBox="1"/>
          <p:nvPr/>
        </p:nvSpPr>
        <p:spPr>
          <a:xfrm>
            <a:off x="825909" y="383458"/>
            <a:ext cx="9330814" cy="5382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Common Terms</a:t>
            </a: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PM 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 Preventative Maintenance functionality that allows for standard PM tasks to be built out and scheduled.</a:t>
            </a:r>
          </a:p>
          <a:p>
            <a:pPr marL="742950" lvl="1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Campaigns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Ability to group multiple work orders across asset types and employee type into one location displaying all associated work to an individual campaign. </a:t>
            </a:r>
          </a:p>
          <a:p>
            <a:pPr marL="742950" lvl="1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Linear Asset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An asset that has a start and stop location, i.e. track, OCS wire runs, third rail, etc.</a:t>
            </a:r>
          </a:p>
          <a:p>
            <a:pPr marL="742950" lvl="1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Stationary Asset 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– A single-point asset (location) that is static on the map.</a:t>
            </a:r>
          </a:p>
          <a:p>
            <a:pPr marL="742950" lvl="1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Exception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Typically refers to a measurement or condition that exceeds accepted standards, (example), in track geometry a gauge exception could be wide or even tight track gauge.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SGR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– (State of Good Repair)- methodology utilized to ensure safe, efficient and cost-effective asset management that can be used as a vehicle to apply for grants from regulatory agencies. </a:t>
            </a:r>
          </a:p>
          <a:p>
            <a:pPr marL="742950" lvl="1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NTD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(National Transportation Database) –  a database of current assets and conditions which is a requirement for all agencies receiving government funding.</a:t>
            </a:r>
          </a:p>
        </p:txBody>
      </p:sp>
    </p:spTree>
    <p:extLst>
      <p:ext uri="{BB962C8B-B14F-4D97-AF65-F5344CB8AC3E}">
        <p14:creationId xmlns:p14="http://schemas.microsoft.com/office/powerpoint/2010/main" val="3714060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C046A0-ED33-B128-648E-3047015EE6D2}"/>
              </a:ext>
            </a:extLst>
          </p:cNvPr>
          <p:cNvSpPr txBox="1"/>
          <p:nvPr/>
        </p:nvSpPr>
        <p:spPr>
          <a:xfrm>
            <a:off x="796413" y="501446"/>
            <a:ext cx="8347587" cy="3189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Industries and function points:</a:t>
            </a:r>
          </a:p>
          <a:p>
            <a:pPr marR="0" lvl="0">
              <a:lnSpc>
                <a:spcPct val="115000"/>
              </a:lnSpc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 I, II, III, transits, industrial, scenic and shortline railroads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Available for internal or contracted inspections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FRA compliant for 234 and 236 crossings and signals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FRA Part 213 pre-loaded for track inspectors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Bridge Plan Management 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Asset Management of linear and stationary assets including ability for capital forecasting and planning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Configuration Management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Non-destructive linear testing management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Trouble call / Service request creation and tracking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28650" lvl="1" indent="-1714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Corporate Reporting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 Client:  Brightline, Denver RTD, Herzog</a:t>
            </a:r>
          </a:p>
        </p:txBody>
      </p:sp>
    </p:spTree>
    <p:extLst>
      <p:ext uri="{BB962C8B-B14F-4D97-AF65-F5344CB8AC3E}">
        <p14:creationId xmlns:p14="http://schemas.microsoft.com/office/powerpoint/2010/main" val="3371227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1644</TotalTime>
  <Words>634</Words>
  <Application>Microsoft Office PowerPoint</Application>
  <PresentationFormat>Widescreen</PresentationFormat>
  <Paragraphs>52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Shirhall</dc:creator>
  <cp:lastModifiedBy>Tim Elsberry</cp:lastModifiedBy>
  <cp:revision>9</cp:revision>
  <dcterms:created xsi:type="dcterms:W3CDTF">2025-06-03T14:34:55Z</dcterms:created>
  <dcterms:modified xsi:type="dcterms:W3CDTF">2026-02-10T18:05:00Z</dcterms:modified>
</cp:coreProperties>
</file>